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60" r:id="rId6"/>
    <p:sldId id="270" r:id="rId7"/>
    <p:sldId id="262" r:id="rId8"/>
    <p:sldId id="271" r:id="rId9"/>
    <p:sldId id="263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10"/>
    <p:restoredTop sz="94570"/>
  </p:normalViewPr>
  <p:slideViewPr>
    <p:cSldViewPr snapToGrid="0" snapToObjects="1">
      <p:cViewPr>
        <p:scale>
          <a:sx n="132" d="100"/>
          <a:sy n="132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1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3218-D79A-6BBE-EDC4-9A12A1F0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1E5C2-370F-8DD4-6B5D-CD998AC3D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E989A-8BEB-0D24-B868-EB4624A65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8BE5D-E1C6-9B17-AE57-37C0E87E8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76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D64F-FC90-6128-811F-C8368480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3815A-3D2E-4DF9-4A2F-273EF47D0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29637-5C94-4157-C007-5EC70302B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BBA5A-4A20-85FA-F23C-A225AC054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32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574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Hospitalization Stays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3383280"/>
            <a:ext cx="6309360" cy="0"/>
          </a:xfrm>
          <a:prstGeom prst="line">
            <a:avLst/>
          </a:prstGeom>
          <a:noFill/>
          <a:ln w="38100">
            <a:solidFill>
              <a:srgbClr val="487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MSDS 6372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Josh Samuel &amp; Aayush Dalal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46920" y="0"/>
            <a:ext cx="246888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2124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921240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92124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878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921240" y="3813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92124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921240" y="5001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compared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9" y="1357316"/>
            <a:ext cx="8932545" cy="354328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Hospitals want to understand what drives length of stay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average length of stay, measured in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1</a:t>
            </a: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evaluate infection risk after accounting for hospital factors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2</a:t>
            </a: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compare models for predicting future stays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Preparation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oject_assets/data_summar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934898"/>
            <a:ext cx="4754880" cy="2254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444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decisions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1874520"/>
            <a:ext cx="48463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variable: LengthStay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excluded because it only identifies hospitals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and </a:t>
            </a:r>
            <a:r>
              <a:rPr lang="en-US" sz="20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MedSchoolAffiliation</a:t>
            </a: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treated as categorical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Trends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Infection risk shows the clear positive trend with length of stay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number of nurses and daily census also trend upward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variables were carried into the regression modeling stage</a:t>
            </a: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pic>
        <p:nvPicPr>
          <p:cNvPr id="11" name="Picture 1" descr="Project-1---V2_files/figure-pptx/eda-infection-risk-1.png">
            <a:extLst>
              <a:ext uri="{FF2B5EF4-FFF2-40B4-BE49-F238E27FC236}">
                <a16:creationId xmlns:a16="http://schemas.microsoft.com/office/drawing/2014/main" id="{1C509B72-A831-483D-C63B-442AABBD7E33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0080" y="1484636"/>
            <a:ext cx="3533335" cy="230213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2" name="Picture 11" descr="Project-1---V2_files/figure-pptx/eda-census-1.png">
            <a:extLst>
              <a:ext uri="{FF2B5EF4-FFF2-40B4-BE49-F238E27FC236}">
                <a16:creationId xmlns:a16="http://schemas.microsoft.com/office/drawing/2014/main" id="{1DB081F5-FE2D-5E0B-88BB-F43F66AE22F4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974971" y="1445982"/>
            <a:ext cx="3560233" cy="234078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3" name="Picture 12" descr="Project-1---V2_files/figure-pptx/eda-nurses-1.png">
            <a:extLst>
              <a:ext uri="{FF2B5EF4-FFF2-40B4-BE49-F238E27FC236}">
                <a16:creationId xmlns:a16="http://schemas.microsoft.com/office/drawing/2014/main" id="{701C2D79-16DA-6530-F381-96AE34986172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4307526" y="1445983"/>
            <a:ext cx="3533335" cy="236962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 Exploration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86246" y="155194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40526" y="2022098"/>
            <a:ext cx="4472354" cy="171779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infection-risk slope is not identical across regions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motivates an InfectionRisk × Region interaction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interaction is used later as the added-complexity MLR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Explored </a:t>
            </a:r>
            <a:r>
              <a:rPr lang="en-US" sz="1300" dirty="0" err="1"/>
              <a:t>InfectionRisk</a:t>
            </a:r>
            <a:r>
              <a:rPr lang="en-US" sz="1300" dirty="0"/>
              <a:t> x </a:t>
            </a:r>
            <a:r>
              <a:rPr lang="en-US" sz="1300" dirty="0" err="1"/>
              <a:t>MedSchoolAffiliation</a:t>
            </a:r>
            <a:r>
              <a:rPr lang="en-US" sz="1300" dirty="0"/>
              <a:t> possible interaction but no clear added value so dropped for parsimony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pic>
        <p:nvPicPr>
          <p:cNvPr id="11" name="Picture 10" descr="Project-1---V2_files/figure-pptx/eda-interaction-region-1.png">
            <a:extLst>
              <a:ext uri="{FF2B5EF4-FFF2-40B4-BE49-F238E27FC236}">
                <a16:creationId xmlns:a16="http://schemas.microsoft.com/office/drawing/2014/main" id="{D5EB90D7-F9B9-1B69-3BF6-2DE50B85EF27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58368" y="1364726"/>
            <a:ext cx="6258247" cy="403961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2" name="Picture 11" descr="Project-1---V2_files/figure-pptx/eda-interaction-med-school-1.png">
            <a:extLst>
              <a:ext uri="{FF2B5EF4-FFF2-40B4-BE49-F238E27FC236}">
                <a16:creationId xmlns:a16="http://schemas.microsoft.com/office/drawing/2014/main" id="{E7D030B8-155C-31D4-D1C7-17F966B7A729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497780" y="3794760"/>
            <a:ext cx="3291840" cy="235014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812E2-61F0-AD49-9926-A506116B6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60C195-3EAC-4444-9D94-7110E239BD3E}"/>
              </a:ext>
            </a:extLst>
          </p:cNvPr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MLR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94CFF3-75F1-47B5-532F-9DDCE9454E9E}"/>
              </a:ext>
            </a:extLst>
          </p:cNvPr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1 Model Development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76F977-9DC8-561B-BFDD-C5D0F978DFB6}"/>
              </a:ext>
            </a:extLst>
          </p:cNvPr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mnt/data/project_assets/model_selection_table.png">
            <a:extLst>
              <a:ext uri="{FF2B5EF4-FFF2-40B4-BE49-F238E27FC236}">
                <a16:creationId xmlns:a16="http://schemas.microsoft.com/office/drawing/2014/main" id="{3A42D26D-C3C8-432F-C6EA-C3EFC8134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76" y="3710953"/>
            <a:ext cx="5856024" cy="1835904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49061BB0-2EBE-5DC3-B082-73907D278695}"/>
              </a:ext>
            </a:extLst>
          </p:cNvPr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EC33E14-78AE-707B-36DA-797D42AC8EEB}"/>
              </a:ext>
            </a:extLst>
          </p:cNvPr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324CA-28B6-35BD-8691-625FDA1B7730}"/>
              </a:ext>
            </a:extLst>
          </p:cNvPr>
          <p:cNvSpPr txBox="1"/>
          <p:nvPr/>
        </p:nvSpPr>
        <p:spPr>
          <a:xfrm>
            <a:off x="548640" y="1521708"/>
            <a:ext cx="4924881" cy="5135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Goal</a:t>
            </a:r>
            <a:r>
              <a:rPr lang="en-US" sz="1600" dirty="0"/>
              <a:t>: explain average length of stay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Fit full MLR model using all hospital predictors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Checked statistical significance, VIFs, AIC/BIC, and diagnostics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Removed Beds due to severe collinearity with </a:t>
            </a:r>
            <a:r>
              <a:rPr lang="en-US" sz="1600" dirty="0" err="1"/>
              <a:t>AvgDailyCensus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Removed low significance variables to improve parsimony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Final reduced model had the best AIC and BIC with similar adjusted R²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4" name="Image 0" descr="/mnt/data/project_assets/vif_comparison.png">
            <a:extLst>
              <a:ext uri="{FF2B5EF4-FFF2-40B4-BE49-F238E27FC236}">
                <a16:creationId xmlns:a16="http://schemas.microsoft.com/office/drawing/2014/main" id="{BA69301C-2158-AD12-DEEE-FD89E7B85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62092"/>
            <a:ext cx="4924881" cy="193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6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COEFFICIENT 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Objective 1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oject_assets/coef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80" y="1563624"/>
            <a:ext cx="6226417" cy="3944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783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</a:t>
            </a:r>
            <a:r>
              <a:rPr lang="en-US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3524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4775055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= 0.614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R² = 0.585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model p &lt; 0.001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4EBD6FB-963E-D3AE-8C8B-8E49A3262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720" y="2147201"/>
            <a:ext cx="383928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500" b="1" dirty="0">
                <a:solidFill>
                  <a:srgbClr val="111827"/>
                </a:solidFill>
                <a:latin typeface="Aptos" pitchFamily="34" charset="0"/>
              </a:rPr>
              <a:t>Pred 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LengthStay</a:t>
            </a:r>
            <a:r>
              <a:rPr lang="en-US" altLang="en-US" sz="1500" b="1" dirty="0">
                <a:solidFill>
                  <a:srgbClr val="111827"/>
                </a:solidFill>
                <a:latin typeface="Aptos" pitchFamily="34" charset="0"/>
              </a:rPr>
              <a:t>)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 = 3.044 + 0.072(Age) + 0.456(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InfectionRisk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 + 0.014(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RoutineChestXrayRatio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 − 0.932(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RegionNC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 − 1.224(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RegionS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 − 2.005(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RegionW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 + 0.0097(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AvgDailyCensus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 − 0.0072(</a:t>
            </a:r>
            <a:r>
              <a:rPr lang="en-US" altLang="en-US" sz="1500" dirty="0" err="1">
                <a:solidFill>
                  <a:srgbClr val="111827"/>
                </a:solidFill>
                <a:latin typeface="Aptos" pitchFamily="34" charset="0"/>
              </a:rPr>
              <a:t>AvgNurses</a:t>
            </a:r>
            <a: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  <a:t>)</a:t>
            </a:r>
          </a:p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1500" dirty="0">
                <a:solidFill>
                  <a:srgbClr val="111827"/>
                </a:solidFill>
                <a:latin typeface="Aptos" pitchFamily="34" charset="0"/>
              </a:rPr>
            </a:br>
            <a:endParaRPr lang="en-US" altLang="en-US" sz="1500" dirty="0">
              <a:solidFill>
                <a:srgbClr val="111827"/>
              </a:solidFill>
              <a:latin typeface="Aptos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873B-D811-8BAB-A0B5-38161B1A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190F69-35EC-97D9-E718-B61823FBF73C}"/>
              </a:ext>
            </a:extLst>
          </p:cNvPr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1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9153CB-D067-F29E-92C7-B7258F7C2C7C}"/>
              </a:ext>
            </a:extLst>
          </p:cNvPr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Diagnostics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9FDF4A-783F-8361-0224-0FF1176D6705}"/>
              </a:ext>
            </a:extLst>
          </p:cNvPr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DD1F88F-A87E-0C3B-220D-DEB893F53FE5}"/>
              </a:ext>
            </a:extLst>
          </p:cNvPr>
          <p:cNvSpPr/>
          <p:nvPr/>
        </p:nvSpPr>
        <p:spPr>
          <a:xfrm>
            <a:off x="7818120" y="170443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summary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3B2D2D-B295-AB83-FE7E-478838B7ACC9}"/>
              </a:ext>
            </a:extLst>
          </p:cNvPr>
          <p:cNvSpPr/>
          <p:nvPr/>
        </p:nvSpPr>
        <p:spPr>
          <a:xfrm>
            <a:off x="7818120" y="1963211"/>
            <a:ext cx="3246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Residuals did not show major linearity concerns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Q-Q plot showed minor upper-tail departures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issue was severe enough to reject the model for Objective 1 interpretation</a:t>
            </a:r>
            <a:endParaRPr lang="en-US" sz="1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97A5A0B-DAC0-9DF1-08B1-F31E53975904}"/>
              </a:ext>
            </a:extLst>
          </p:cNvPr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4024FBA-B9EE-DE4B-F3E9-D92B05A9C831}"/>
              </a:ext>
            </a:extLst>
          </p:cNvPr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pic>
        <p:nvPicPr>
          <p:cNvPr id="10" name="Picture 1" descr="Project-1---V2_files/figure-pptx/unnamed-chunk-6-1.png">
            <a:extLst>
              <a:ext uri="{FF2B5EF4-FFF2-40B4-BE49-F238E27FC236}">
                <a16:creationId xmlns:a16="http://schemas.microsoft.com/office/drawing/2014/main" id="{245AB7E0-16CF-0D9E-0E3B-E995F96477F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07720" y="1231206"/>
            <a:ext cx="6028809" cy="43041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671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1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1 Key Findings /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+0.456 days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increase in average length of stay for a one-unit increase in infection risk while the other variables are held constant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CI: 0.241 to 0.671 days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47548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relationship remains after controlling for other hospital factors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interval excludes 0, supporting statistical significance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Region, age, census, and nurses also showed meaningful associations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0" cy="4206240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2 Model Comparison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Predict future hospital length of stay as accurately as possible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38912" cy="438912"/>
          </a:xfrm>
          <a:prstGeom prst="ellipse">
            <a:avLst/>
          </a:prstGeom>
          <a:solidFill>
            <a:srgbClr val="4878A8"/>
          </a:solidFill>
          <a:ln w="12700">
            <a:solidFill>
              <a:srgbClr val="487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1 MLR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81328" y="2441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interpretable regression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438912" cy="438912"/>
          </a:xfrm>
          <a:prstGeom prst="ellipse">
            <a:avLst/>
          </a:prstGeom>
          <a:solidFill>
            <a:srgbClr val="4878A8"/>
          </a:solidFill>
          <a:ln w="12700">
            <a:solidFill>
              <a:srgbClr val="487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27355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3172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 MLR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81328" y="3493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InfectionRisk × Region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438912" cy="438912"/>
          </a:xfrm>
          <a:prstGeom prst="ellipse">
            <a:avLst/>
          </a:prstGeom>
          <a:solidFill>
            <a:srgbClr val="4878A8"/>
          </a:solidFill>
          <a:ln w="12700">
            <a:solidFill>
              <a:srgbClr val="487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2511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4544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Nonparametric comparison 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122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596897"/>
            <a:ext cx="4023360" cy="14356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10-fold cross-validation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metric: RMSE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metric: MAE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based on predictive error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Results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oject_assets/model_compar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00831"/>
            <a:ext cx="4846320" cy="1398938"/>
          </a:xfrm>
          <a:prstGeom prst="rect">
            <a:avLst/>
          </a:prstGeom>
        </p:spPr>
      </p:pic>
      <p:pic>
        <p:nvPicPr>
          <p:cNvPr id="6" name="Image 1" descr="/mnt/data/project_assets/model_compare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289573"/>
            <a:ext cx="5349240" cy="2952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00600"/>
            <a:ext cx="10332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1 MLR had the lowest RMSE: 1.2315 days</a:t>
            </a: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MLR had the lowest MAE: 0.9263 days</a:t>
            </a: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regression models outperformed Random Forest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REMARKS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&amp;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108813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model: Objective 1 MLR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65836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cross-validated RMSE among the three models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and parsimonious compared with more complex alternatives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Infection risk is positively associated with average hospital length of stay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did not improve prediction in this small sample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92440" y="2148840"/>
            <a:ext cx="306324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0" y="292608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113 hospitals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may not generalize to all hospitals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Future work: external validation, additional interactions, and testing more nonparametric models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0140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574</Words>
  <Application>Microsoft Macintosh PowerPoint</Application>
  <PresentationFormat>Widescreen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MSDS 6372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Hospitalization Stays Regression Analysis</dc:title>
  <dc:subject>Hospitalization Stays Regression Analysis</dc:subject>
  <dc:creator>Josh Samuel &amp; Aayush Dalal</dc:creator>
  <cp:lastModifiedBy>Samuel, Josh</cp:lastModifiedBy>
  <cp:revision>11</cp:revision>
  <dcterms:created xsi:type="dcterms:W3CDTF">2026-05-22T20:51:21Z</dcterms:created>
  <dcterms:modified xsi:type="dcterms:W3CDTF">2026-05-24T20:32:20Z</dcterms:modified>
</cp:coreProperties>
</file>